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70" r:id="rId9"/>
    <p:sldId id="263" r:id="rId10"/>
    <p:sldId id="272" r:id="rId11"/>
    <p:sldId id="271" r:id="rId12"/>
    <p:sldId id="265" r:id="rId13"/>
    <p:sldId id="273" r:id="rId14"/>
    <p:sldId id="267" r:id="rId15"/>
    <p:sldId id="274" r:id="rId16"/>
    <p:sldId id="269" r:id="rId17"/>
  </p:sldIdLst>
  <p:sldSz cx="12192000" cy="6858000"/>
  <p:notesSz cx="6858000" cy="12192000"/>
  <p:embeddedFontLst>
    <p:embeddedFont>
      <p:font typeface="Geist" panose="020B0604020202020204" charset="0"/>
      <p:regular r:id="rId19"/>
    </p:embeddedFont>
    <p:embeddedFont>
      <p:font typeface="Geist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887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633BD-7B8E-0C79-456C-7D7A32D39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1295A-ACD0-4C7D-C987-2B0B1CD86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4CA13-3D62-F77E-DB89-0AAF35520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6C4C8-D62A-1BFA-1F1B-F6F346667D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87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B242C-A64E-1AED-FA71-473FA4C2E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4EE16-1396-A5B7-C6C0-C5870C1AE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FC15B-858B-E402-FD1E-EC8327330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4CAB1-E4E4-B145-8CFD-90E0BFE04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762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ore.cecyber.com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59930"/>
            <a:ext cx="3023517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79" y="1727895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1716584"/>
            <a:ext cx="317948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PANORAMA EXECUTIVO 2025–2026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022673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Risco Cibernético no Setor Financeiro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2920405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Síntese executiva com dados validados (≥2 fontes por número-chave). Recorte: setor financeiro (bancos, fintechs, meios de </a:t>
            </a:r>
            <a:r>
              <a:rPr lang="en-US" sz="145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pagamento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624362"/>
            <a:ext cx="3496877" cy="1573609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9531" y="3832423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Escopo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9531" y="4252913"/>
            <a:ext cx="3080764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Bancos, fintechs e meios de pagamento no Brasil e contexto global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47359" y="3624362"/>
            <a:ext cx="3496877" cy="1573609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555416" y="3832423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Fontes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555416" y="4252913"/>
            <a:ext cx="3080764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IBM, Verizon, FS-ISAC, CrowdStrike, Microsoft, Mandiant, WEF, ENISA, BCB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33244" y="3624362"/>
            <a:ext cx="3496877" cy="1573609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241300" y="3832423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Horizonte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241300" y="4252913"/>
            <a:ext cx="3080764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Análise de ameaças, regulação e roadmap de defesa para 2025–2026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6795"/>
            <a:ext cx="1647784" cy="215305"/>
          </a:xfrm>
          <a:prstGeom prst="roundRect">
            <a:avLst>
              <a:gd name="adj" fmla="val 22123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46503" y="589260"/>
            <a:ext cx="208731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INTELIGÊNCIA DE AMEAÇAS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04565"/>
            <a:ext cx="10868745" cy="460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Mapa de Calor de Ameaças — Recorte Financeiro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424682"/>
            <a:ext cx="11478330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Prioridades por probabilidade × impacto: ransomware, fraude no PIX e risco de terceiros ocupam o quadrante crítico.</a:t>
            </a:r>
            <a:endParaRPr lang="en-US" sz="1100" dirty="0"/>
          </a:p>
        </p:txBody>
      </p:sp>
      <p:pic>
        <p:nvPicPr>
          <p:cNvPr id="20" name="Picture 5" descr="01-mapa-calor-ameacas.png">
            <a:extLst>
              <a:ext uri="{FF2B5EF4-FFF2-40B4-BE49-F238E27FC236}">
                <a16:creationId xmlns:a16="http://schemas.microsoft.com/office/drawing/2014/main" id="{C58E06EE-B276-DD8C-A987-FACB8D0C6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337" y="1663754"/>
            <a:ext cx="7441019" cy="51529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1082"/>
            <a:ext cx="1529915" cy="229691"/>
          </a:xfrm>
          <a:prstGeom prst="roundRect">
            <a:avLst>
              <a:gd name="adj" fmla="val 22120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52159" y="606425"/>
            <a:ext cx="195813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SUPERFÍCIE DE ATAQUE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39093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Superfície de Ataque: PIX e Open Finance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511895"/>
            <a:ext cx="11478330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Topologia lógica e vetores de ataque no ecossistema PIX e Open Finance Brasil.</a:t>
            </a:r>
            <a:endParaRPr lang="en-US" sz="115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DAE088DF-5BC5-9DBB-34D3-51186C5B4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708" y="1846455"/>
            <a:ext cx="9326277" cy="46393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7375"/>
            <a:ext cx="908920" cy="258465"/>
          </a:xfrm>
          <a:prstGeom prst="roundRect">
            <a:avLst>
              <a:gd name="adj" fmla="val 22115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63469" y="638373"/>
            <a:ext cx="1314516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HISTÓRICO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07058"/>
            <a:ext cx="10868745" cy="5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Mapa </a:t>
            </a:r>
            <a:r>
              <a:rPr lang="en-US" sz="3300" b="1" dirty="0" err="1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Regulatório</a:t>
            </a:r>
            <a:r>
              <a:rPr lang="en-US" sz="33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– </a:t>
            </a:r>
            <a:r>
              <a:rPr lang="en-US" sz="3300" b="1" dirty="0" err="1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Setor</a:t>
            </a:r>
            <a:r>
              <a:rPr lang="en-US" sz="33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Financeiro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689596"/>
            <a:ext cx="10868745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Linha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do tempo das </a:t>
            </a:r>
            <a:r>
              <a:rPr lang="en-US" sz="13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obrigações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3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3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incidem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3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sobre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3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uma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3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instituição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3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financeira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3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brasileira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com </a:t>
            </a:r>
            <a:r>
              <a:rPr lang="en-US" sz="13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exigência-chave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 </a:t>
            </a:r>
            <a:r>
              <a:rPr lang="en-US" sz="13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cada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3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camada</a:t>
            </a:r>
            <a:endParaRPr lang="en-US" sz="1300" dirty="0"/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C71FF75A-BD76-64DF-45E8-3699E09F5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25" y="2215961"/>
            <a:ext cx="11150349" cy="4311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2138"/>
            <a:ext cx="952972" cy="243979"/>
          </a:xfrm>
          <a:prstGeom prst="roundRect">
            <a:avLst>
              <a:gd name="adj" fmla="val 22126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57814" y="640259"/>
            <a:ext cx="1369879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REGULAÇÃO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90687"/>
            <a:ext cx="10868745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Mapa Regulatório Financeiro (Brasil)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617563"/>
            <a:ext cx="11478330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Arcabouço normativo vigente e atualizações de 2025 com prazo de adequação em março de 2026.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64234"/>
            <a:ext cx="5366112" cy="17394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156" y="2601813"/>
            <a:ext cx="500675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LGPD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156" y="2944713"/>
            <a:ext cx="5006751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Lei Geral de Proteção de Dados. Base legal para tratamento de dados pessoais de clientes financeiros. Sanções aplicáveis pelo ANPD.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1964234"/>
            <a:ext cx="5366112" cy="17394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43789" y="2601813"/>
            <a:ext cx="500675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CMN 4.893 / BCB 85 (2021)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343789" y="2944713"/>
            <a:ext cx="5006751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Resolução CMN nº 4.893/2021 e Resolução BCB nº 85/2021. Estabelecem requisitos de segurança cibernética para instituições financeiras autorizadas pelo Banco Central.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840163"/>
            <a:ext cx="5366112" cy="17394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1156" y="4477742"/>
            <a:ext cx="500675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Open Finance Brasil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41156" y="4820642"/>
            <a:ext cx="5006751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Regulamentação do compartilhamento de dados e serviços financeiros. Define requisitos de segurança para APIs, consentimento e certificação de participantes.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3840163"/>
            <a:ext cx="5366112" cy="17394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43789" y="4477742"/>
            <a:ext cx="500675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CMN 5.274 / BCB 538 (2025)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6343789" y="4820642"/>
            <a:ext cx="5006751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Atualização regulatória de 2025. Amplia requisitos de gestão de risco cibernético e de terceiros. </a:t>
            </a: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Prazo de adequação: março/2026.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61475" y="5733157"/>
            <a:ext cx="10868745" cy="532606"/>
          </a:xfrm>
          <a:prstGeom prst="roundRect">
            <a:avLst>
              <a:gd name="adj" fmla="val 12670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06" y="5933877"/>
            <a:ext cx="200814" cy="16063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3551" y="5909766"/>
            <a:ext cx="10795623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Prazo crítico: instituições </a:t>
            </a:r>
            <a:r>
              <a:rPr lang="en-US" sz="1250" dirty="0" err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financeiras</a:t>
            </a:r>
            <a:r>
              <a:rPr lang="en-US" sz="12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tiveram</a:t>
            </a:r>
            <a:r>
              <a:rPr lang="en-US" sz="12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</a:t>
            </a:r>
            <a:r>
              <a:rPr lang="en-US" sz="12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estar em conformidade com CMN 5.274/2025 e BCB 538/2025 até </a:t>
            </a:r>
            <a:r>
              <a:rPr lang="en-US" sz="12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março de 2026</a:t>
            </a:r>
            <a:r>
              <a:rPr lang="en-US" sz="12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4016"/>
            <a:ext cx="1276020" cy="211832"/>
          </a:xfrm>
          <a:prstGeom prst="roundRect">
            <a:avLst>
              <a:gd name="adj" fmla="val 22135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45114" y="585787"/>
            <a:ext cx="171832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INTELIGÊNCIA TÁTICA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97024"/>
            <a:ext cx="10868745" cy="453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Cadeia de Ataque — Kill Chain e MITRE ATT&amp;CK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1475" y="1404938"/>
            <a:ext cx="11478330" cy="15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Fases da intrusão mapeadas às táticas do MITRE ATT&amp;CK, aplicadas a instituições financeiras.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612" y="1678484"/>
            <a:ext cx="7890471" cy="29608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25992" y="3916002"/>
            <a:ext cx="1190097" cy="23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Instalação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26144" y="3916002"/>
            <a:ext cx="1190097" cy="23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Exploração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34448" y="3916002"/>
            <a:ext cx="1190096" cy="23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Entrega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42751" y="3916002"/>
            <a:ext cx="1190097" cy="23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Armamento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937496" y="3918088"/>
            <a:ext cx="1771052" cy="476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Reconhecimento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1475" y="4858246"/>
            <a:ext cx="5264217" cy="226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Táticas MITRE ATT&amp;CK Mais Observadas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1475" y="5187950"/>
            <a:ext cx="5264217" cy="1090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94000"/>
              </a:lnSpc>
              <a:buSzPct val="100000"/>
              <a:buChar char="•"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Initial Access (TA0001):</a:t>
            </a: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Spearphishing, comprometimento de cadeia de suprimentos</a:t>
            </a:r>
            <a:endParaRPr lang="en-US" sz="1050" dirty="0"/>
          </a:p>
          <a:p>
            <a:pPr marL="213360" indent="-213360" algn="l">
              <a:lnSpc>
                <a:spcPct val="94000"/>
              </a:lnSpc>
              <a:buSzPct val="100000"/>
              <a:buChar char="•"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Execution (TA0002):</a:t>
            </a: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Scripts maliciosos, macros em documentos</a:t>
            </a:r>
            <a:endParaRPr lang="en-US" sz="1050" dirty="0"/>
          </a:p>
          <a:p>
            <a:pPr marL="213360" indent="-213360" algn="l">
              <a:lnSpc>
                <a:spcPct val="94000"/>
              </a:lnSpc>
              <a:buSzPct val="100000"/>
              <a:buChar char="•"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Persistence (TA0003):</a:t>
            </a: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Backdoors em sistemas legados</a:t>
            </a:r>
            <a:endParaRPr lang="en-US" sz="1050" dirty="0"/>
          </a:p>
          <a:p>
            <a:pPr marL="213360" indent="-213360" algn="l">
              <a:lnSpc>
                <a:spcPct val="94000"/>
              </a:lnSpc>
              <a:buSzPct val="100000"/>
              <a:buChar char="•"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Credential Access (TA0006):</a:t>
            </a: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Keylogging, credential dumping</a:t>
            </a:r>
            <a:endParaRPr lang="en-US" sz="1050" dirty="0"/>
          </a:p>
          <a:p>
            <a:pPr marL="213360" indent="-213360" algn="l">
              <a:lnSpc>
                <a:spcPct val="94000"/>
              </a:lnSpc>
              <a:buSzPct val="100000"/>
              <a:buChar char="•"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Exfiltration (TA0010):</a:t>
            </a: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Transferência de dados via canais cifrados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72353" y="4858246"/>
            <a:ext cx="5264217" cy="226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Técnicas Específicas ao Setor Financeiro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272353" y="5187950"/>
            <a:ext cx="5264217" cy="932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94000"/>
              </a:lnSpc>
              <a:buSzPct val="100000"/>
              <a:buChar char="•"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Abuso de credenciais de operadores do PIX</a:t>
            </a:r>
            <a:endParaRPr lang="en-US" sz="1050" dirty="0"/>
          </a:p>
          <a:p>
            <a:pPr marL="213360" indent="-213360" algn="l">
              <a:lnSpc>
                <a:spcPct val="94000"/>
              </a:lnSpc>
              <a:buSzPct val="100000"/>
              <a:buChar char="•"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Man-in-the-Browser em internet banking</a:t>
            </a:r>
            <a:endParaRPr lang="en-US" sz="1050" dirty="0"/>
          </a:p>
          <a:p>
            <a:pPr marL="213360" indent="-213360" algn="l">
              <a:lnSpc>
                <a:spcPct val="94000"/>
              </a:lnSpc>
              <a:buSzPct val="100000"/>
              <a:buChar char="•"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Overlay attacks em aplicativos móveis bancários</a:t>
            </a:r>
            <a:endParaRPr lang="en-US" sz="1050" dirty="0"/>
          </a:p>
          <a:p>
            <a:pPr marL="213360" indent="-213360" algn="l">
              <a:lnSpc>
                <a:spcPct val="94000"/>
              </a:lnSpc>
              <a:buSzPct val="100000"/>
              <a:buChar char="•"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Exploração de APIs do Open Finance</a:t>
            </a:r>
            <a:endParaRPr lang="en-US" sz="1050" dirty="0"/>
          </a:p>
          <a:p>
            <a:pPr marL="213360" indent="-213360" algn="l">
              <a:lnSpc>
                <a:spcPct val="94000"/>
              </a:lnSpc>
              <a:buSzPct val="100000"/>
              <a:buChar char="•"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Comprometimento de HSMs e sistemas de pagamento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6795"/>
            <a:ext cx="1085624" cy="215305"/>
          </a:xfrm>
          <a:prstGeom prst="roundRect">
            <a:avLst>
              <a:gd name="adj" fmla="val 22123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46503" y="589260"/>
            <a:ext cx="152515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AMEAÇA CRÍTICA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04565"/>
            <a:ext cx="10868745" cy="460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Ecossistema de Ransomware e RaaS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424682"/>
            <a:ext cx="11478330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Fluxo do modelo Ransomware-as-a-Service (RaaS): operador → afiliado → broker de acesso → vítima. Ameaça direta a bancos e fintechs.</a:t>
            </a:r>
            <a:endParaRPr lang="en-US" sz="1100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11BD78B0-FD7D-6AC2-8A9B-2916F20FF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34" y="1726166"/>
            <a:ext cx="10913086" cy="50758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4DC03-F941-467F-5EDB-BE1D509E0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701801-1FB3-FDFE-04EB-19F6F7DE3DAE}"/>
              </a:ext>
            </a:extLst>
          </p:cNvPr>
          <p:cNvSpPr/>
          <p:nvPr/>
        </p:nvSpPr>
        <p:spPr>
          <a:xfrm>
            <a:off x="661475" y="546795"/>
            <a:ext cx="1085624" cy="215305"/>
          </a:xfrm>
          <a:prstGeom prst="roundRect">
            <a:avLst>
              <a:gd name="adj" fmla="val 22123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5830F6-0866-F691-B273-BA68B5D57EAB}"/>
              </a:ext>
            </a:extLst>
          </p:cNvPr>
          <p:cNvSpPr/>
          <p:nvPr/>
        </p:nvSpPr>
        <p:spPr>
          <a:xfrm>
            <a:off x="746503" y="589260"/>
            <a:ext cx="152515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AMEAÇA CRÍTICA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DB3620-3941-C026-665F-DF1C452FC61F}"/>
              </a:ext>
            </a:extLst>
          </p:cNvPr>
          <p:cNvSpPr/>
          <p:nvPr/>
        </p:nvSpPr>
        <p:spPr>
          <a:xfrm>
            <a:off x="661475" y="804565"/>
            <a:ext cx="10868745" cy="460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Ecossistema de Ransomware e RaaS</a:t>
            </a:r>
            <a:endParaRPr lang="en-US" sz="2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03A346-CA59-BE97-4A9B-3455E467628C}"/>
              </a:ext>
            </a:extLst>
          </p:cNvPr>
          <p:cNvSpPr/>
          <p:nvPr/>
        </p:nvSpPr>
        <p:spPr>
          <a:xfrm>
            <a:off x="661475" y="1424682"/>
            <a:ext cx="11478330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Fluxo do modelo Ransomware-as-a-Service (RaaS): operador → afiliado → broker de acesso → vítima. Ameaça direta a bancos e fintechs.</a:t>
            </a:r>
            <a:endParaRPr lang="en-US" sz="11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8166CB2B-7183-B753-CE65-F41D58944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25030"/>
            <a:ext cx="4366508" cy="4366617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A62C0C70-F48F-7E18-BC42-A0C9AD6215A3}"/>
              </a:ext>
            </a:extLst>
          </p:cNvPr>
          <p:cNvSpPr/>
          <p:nvPr/>
        </p:nvSpPr>
        <p:spPr>
          <a:xfrm>
            <a:off x="6835802" y="2704405"/>
            <a:ext cx="4700668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Por que o Setor Financeiro é Alvo Prioritário</a:t>
            </a:r>
            <a:endParaRPr lang="en-US" sz="13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62F30C3A-2AA1-63C2-A334-AFDD02A89E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6753" y="3035201"/>
            <a:ext cx="2302909" cy="1411089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7677D3E4-798E-4CA8-BE1B-C980F5278670}"/>
              </a:ext>
            </a:extLst>
          </p:cNvPr>
          <p:cNvSpPr/>
          <p:nvPr/>
        </p:nvSpPr>
        <p:spPr>
          <a:xfrm>
            <a:off x="7015582" y="3054251"/>
            <a:ext cx="2104079" cy="46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Alta Capacidade de Pagamento</a:t>
            </a:r>
            <a:endParaRPr lang="en-US" sz="13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0C6BCB1-AE26-DD32-1C47-28A56175D3FA}"/>
              </a:ext>
            </a:extLst>
          </p:cNvPr>
          <p:cNvSpPr/>
          <p:nvPr/>
        </p:nvSpPr>
        <p:spPr>
          <a:xfrm>
            <a:off x="7015582" y="3621088"/>
            <a:ext cx="2104079" cy="80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Instituições financeiras têm maior propensão a pagar resgates para evitar interrupção operacional e danos reputacionais.</a:t>
            </a:r>
            <a:endParaRPr lang="en-US" sz="11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331214EB-A0AB-0821-3241-FD8CCB54F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3463" y="3035201"/>
            <a:ext cx="2303008" cy="1411089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24128DA8-2BF5-24ED-6DF5-57C5C91C523D}"/>
              </a:ext>
            </a:extLst>
          </p:cNvPr>
          <p:cNvSpPr/>
          <p:nvPr/>
        </p:nvSpPr>
        <p:spPr>
          <a:xfrm>
            <a:off x="9432292" y="3054251"/>
            <a:ext cx="2104179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Dados de Alto Valor</a:t>
            </a:r>
            <a:endParaRPr lang="en-US" sz="135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82F36DC-F5CE-ED44-C415-8EF6AFB50BD7}"/>
              </a:ext>
            </a:extLst>
          </p:cNvPr>
          <p:cNvSpPr/>
          <p:nvPr/>
        </p:nvSpPr>
        <p:spPr>
          <a:xfrm>
            <a:off x="9432292" y="3390801"/>
            <a:ext cx="2104179" cy="80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Dados financeiros e pessoais de clientes têm alto valor no mercado clandestino, potencializando a extorsão dupla.</a:t>
            </a:r>
            <a:endParaRPr lang="en-US" sz="1100" dirty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6CEA05A7-12FC-DE0A-8822-9EA658B19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6753" y="4620816"/>
            <a:ext cx="4719718" cy="697111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60B5704D-D352-F83A-AA82-F67FDD467F6F}"/>
              </a:ext>
            </a:extLst>
          </p:cNvPr>
          <p:cNvSpPr/>
          <p:nvPr/>
        </p:nvSpPr>
        <p:spPr>
          <a:xfrm>
            <a:off x="7015582" y="4639866"/>
            <a:ext cx="4520888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Interdependência Sistêmica</a:t>
            </a:r>
            <a:endParaRPr lang="en-US" sz="135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4AC258D4-96E0-F05B-9BDB-F185945DB882}"/>
              </a:ext>
            </a:extLst>
          </p:cNvPr>
          <p:cNvSpPr/>
          <p:nvPr/>
        </p:nvSpPr>
        <p:spPr>
          <a:xfrm>
            <a:off x="7015582" y="4976416"/>
            <a:ext cx="4520888" cy="32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Ataques a uma instituição podem gerar efeito cascata no sistema financeiro, aumentando a pressão pelo pagamento.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67638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38597"/>
            <a:ext cx="1354401" cy="264220"/>
          </a:xfrm>
          <a:prstGeom prst="roundRect">
            <a:avLst>
              <a:gd name="adj" fmla="val 22121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65751" y="890687"/>
            <a:ext cx="1755433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HORIZONTE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166813"/>
            <a:ext cx="10868745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Tendências 2026 — Exposição do Setor Financeiro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1972171"/>
            <a:ext cx="1147833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 principais tendências que ampliarão a superfície de ataque e o nível de sofisticação das ameaças ao setor financeiro em 2026.</a:t>
            </a:r>
            <a:endParaRPr lang="en-US" sz="1350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04AC515-99C5-B6E0-1E44-0EB9A057FAA6}"/>
              </a:ext>
            </a:extLst>
          </p:cNvPr>
          <p:cNvGrpSpPr>
            <a:grpSpLocks noChangeAspect="1"/>
          </p:cNvGrpSpPr>
          <p:nvPr/>
        </p:nvGrpSpPr>
        <p:grpSpPr>
          <a:xfrm>
            <a:off x="8940148" y="2429370"/>
            <a:ext cx="2898417" cy="4182809"/>
            <a:chOff x="8572405" y="1980374"/>
            <a:chExt cx="3209543" cy="4631806"/>
          </a:xfrm>
        </p:grpSpPr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7549C7BB-702A-D09D-0A7B-5EFAFD50D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2405" y="4275456"/>
              <a:ext cx="3209543" cy="2336724"/>
            </a:xfrm>
            <a:prstGeom prst="rect">
              <a:avLst/>
            </a:prstGeom>
          </p:spPr>
        </p:pic>
        <p:pic>
          <p:nvPicPr>
            <p:cNvPr id="26" name="Imagem 25">
              <a:extLst>
                <a:ext uri="{FF2B5EF4-FFF2-40B4-BE49-F238E27FC236}">
                  <a16:creationId xmlns:a16="http://schemas.microsoft.com/office/drawing/2014/main" id="{7B7CC283-BD35-4080-62AF-D298D478A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72405" y="1980374"/>
              <a:ext cx="3209543" cy="2304287"/>
            </a:xfrm>
            <a:prstGeom prst="rect">
              <a:avLst/>
            </a:prstGeom>
          </p:spPr>
        </p:pic>
      </p:grpSp>
      <p:pic>
        <p:nvPicPr>
          <p:cNvPr id="29" name="Imagem 28">
            <a:extLst>
              <a:ext uri="{FF2B5EF4-FFF2-40B4-BE49-F238E27FC236}">
                <a16:creationId xmlns:a16="http://schemas.microsoft.com/office/drawing/2014/main" id="{206074EF-A85C-D02C-C2E2-5C00171BC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411" y="2385595"/>
            <a:ext cx="7367612" cy="4204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42652"/>
            <a:ext cx="1254987" cy="186630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5093" y="779463"/>
            <a:ext cx="1717334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ESTRATÉGIA DE DEFESA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61132"/>
            <a:ext cx="10868745" cy="399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Roadmap de Defesa — Trilha do Setor Financeiro</a:t>
            </a:r>
            <a:endParaRPr lang="en-US" sz="24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9FD35B2-618D-D95E-2768-07719D8CC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1017"/>
            <a:ext cx="12192000" cy="53468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72409-FF96-E8D7-D0EC-22B38E603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172D6F9-F126-B26F-D077-E7AFF0343A03}"/>
              </a:ext>
            </a:extLst>
          </p:cNvPr>
          <p:cNvSpPr/>
          <p:nvPr/>
        </p:nvSpPr>
        <p:spPr>
          <a:xfrm>
            <a:off x="661475" y="742652"/>
            <a:ext cx="1254987" cy="186630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F043DD-0B77-B7B0-259A-24B8E2BB4C45}"/>
              </a:ext>
            </a:extLst>
          </p:cNvPr>
          <p:cNvSpPr/>
          <p:nvPr/>
        </p:nvSpPr>
        <p:spPr>
          <a:xfrm>
            <a:off x="735093" y="779463"/>
            <a:ext cx="1717334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ESTRATÉGIA DE DEFESA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4ED818-3371-093F-3F67-8E88B9B83904}"/>
              </a:ext>
            </a:extLst>
          </p:cNvPr>
          <p:cNvSpPr/>
          <p:nvPr/>
        </p:nvSpPr>
        <p:spPr>
          <a:xfrm>
            <a:off x="661475" y="961132"/>
            <a:ext cx="10868745" cy="399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Roadmap de Defesa — Trilha do Setor Financeiro</a:t>
            </a:r>
            <a:endParaRPr lang="en-US" sz="24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EFD762F9-B280-5252-164E-EFD1B06B5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0477"/>
            <a:ext cx="12192000" cy="518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83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52004"/>
            <a:ext cx="2848201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79" y="1019969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1008658"/>
            <a:ext cx="300416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DASHBOARD EXECUTIVO — 1 DE 4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31474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Aplicação Web — Visão Geral</a:t>
            </a:r>
            <a:endParaRPr lang="en-US" sz="3700" dirty="0"/>
          </a:p>
        </p:txBody>
      </p:sp>
      <p:sp>
        <p:nvSpPr>
          <p:cNvPr id="7" name="Shape 4"/>
          <p:cNvSpPr/>
          <p:nvPr/>
        </p:nvSpPr>
        <p:spPr>
          <a:xfrm>
            <a:off x="661475" y="2670770"/>
            <a:ext cx="3496877" cy="2077641"/>
          </a:xfrm>
          <a:prstGeom prst="roundRect">
            <a:avLst>
              <a:gd name="adj" fmla="val 3821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75881" y="2885182"/>
            <a:ext cx="306806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Indicadores Globais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75881" y="3305671"/>
            <a:ext cx="3068065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Painel consolidado com métricas de risco cibernético do setor financeiro: número de incidentes, custo médio de violação, tempo médio de detecção e resposta.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47359" y="2670770"/>
            <a:ext cx="3496877" cy="2077641"/>
          </a:xfrm>
          <a:prstGeom prst="roundRect">
            <a:avLst>
              <a:gd name="adj" fmla="val 3821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561766" y="2885182"/>
            <a:ext cx="306806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🗺️</a:t>
            </a: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Mapa de Ameaças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561766" y="3305671"/>
            <a:ext cx="3068065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Visualização geográfica e por categoria das principais ameaças ativas, com filtros por tipo de instituição e vetor de ataque.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33244" y="2670770"/>
            <a:ext cx="3496877" cy="2077641"/>
          </a:xfrm>
          <a:prstGeom prst="roundRect">
            <a:avLst>
              <a:gd name="adj" fmla="val 3821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247650" y="2885182"/>
            <a:ext cx="306806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Tendências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247650" y="3305671"/>
            <a:ext cx="3068065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Evolução temporal dos principais indicadores de risco, com comparativo entre períodos e projeções para 2026.</a:t>
            </a:r>
            <a:endParaRPr lang="en-US" sz="145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6A22DE27-52DF-7837-8A9A-17B169DEC8D4}"/>
              </a:ext>
            </a:extLst>
          </p:cNvPr>
          <p:cNvSpPr/>
          <p:nvPr/>
        </p:nvSpPr>
        <p:spPr>
          <a:xfrm>
            <a:off x="321003" y="5133670"/>
            <a:ext cx="1147833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Pode ser </a:t>
            </a:r>
            <a:r>
              <a:rPr lang="en-US" sz="20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acessada</a:t>
            </a:r>
            <a:r>
              <a:rPr lang="en-US" sz="20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</a:t>
            </a:r>
            <a:r>
              <a:rPr lang="en-US" sz="20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https://score.cecyber.com</a:t>
            </a:r>
            <a:r>
              <a:rPr lang="en-US" sz="20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21345"/>
            <a:ext cx="2883721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79" y="989310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977999"/>
            <a:ext cx="303968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DASHBOARD EXECUTIVO — 2 DE 4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284089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Aplicação Web — Setor Financeiro</a:t>
            </a:r>
            <a:endParaRPr lang="en-US" sz="3700" dirty="0"/>
          </a:p>
        </p:txBody>
      </p:sp>
      <p:pic>
        <p:nvPicPr>
          <p:cNvPr id="6" name="Picture 5" descr="02-financei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550" y="2125980"/>
            <a:ext cx="7022592" cy="4389120"/>
          </a:xfrm>
          <a:prstGeom prst="rect">
            <a:avLst/>
          </a:prstGeom>
          <a:ln w="9525">
            <a:solidFill>
              <a:srgbClr val="30363D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52004"/>
            <a:ext cx="2882828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79" y="1019969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1008658"/>
            <a:ext cx="303879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DASHBOARD EXECUTIVO — 3 DE 4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31474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Aplicação Web — Comparativo e Tendências</a:t>
            </a:r>
            <a:endParaRPr lang="en-US" sz="3700" dirty="0"/>
          </a:p>
        </p:txBody>
      </p:sp>
      <p:sp>
        <p:nvSpPr>
          <p:cNvPr id="7" name="Shape 4"/>
          <p:cNvSpPr/>
          <p:nvPr/>
        </p:nvSpPr>
        <p:spPr>
          <a:xfrm>
            <a:off x="661475" y="2670770"/>
            <a:ext cx="3496877" cy="2077641"/>
          </a:xfrm>
          <a:prstGeom prst="roundRect">
            <a:avLst>
              <a:gd name="adj" fmla="val 3821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75881" y="2885182"/>
            <a:ext cx="306806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Comparativo Setorial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75881" y="3305671"/>
            <a:ext cx="3068065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Benchmarking do setor financeiro em relação a outros setores críticos (energia, saúde, governo), destacando diferenciais de exposição e maturidade defensiva.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47359" y="2670770"/>
            <a:ext cx="3496877" cy="2077641"/>
          </a:xfrm>
          <a:prstGeom prst="roundRect">
            <a:avLst>
              <a:gd name="adj" fmla="val 3821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561766" y="2885182"/>
            <a:ext cx="306806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📉</a:t>
            </a: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Evolução de Ameaças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561766" y="3305671"/>
            <a:ext cx="3068065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Séries históricas de incidentes, vetores de ataque e custos de violação, com análise de tendências e projeções baseadas em dados de múltiplas fontes.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33244" y="2670770"/>
            <a:ext cx="3496877" cy="2077641"/>
          </a:xfrm>
          <a:prstGeom prst="roundRect">
            <a:avLst>
              <a:gd name="adj" fmla="val 3821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247650" y="2885182"/>
            <a:ext cx="306806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🔮</a:t>
            </a: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Projeções 2026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247650" y="3305671"/>
            <a:ext cx="3068065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Cenários prospectivos para o setor financeiro considerando IA ofensiva, deepfake, PQC e evolução regulatória, com indicadores de alerta antecipado.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74837"/>
            <a:ext cx="2883126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79" y="1142802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1131491"/>
            <a:ext cx="303909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DASHBOARD EXECUTIVO — 4 DE 4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43758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Aplicação Web — Roadmap e Ações</a:t>
            </a:r>
            <a:endParaRPr lang="en-US" sz="3700" dirty="0"/>
          </a:p>
        </p:txBody>
      </p:sp>
      <p:pic>
        <p:nvPicPr>
          <p:cNvPr id="6" name="Picture 5" descr="04-recomendaco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550" y="2125980"/>
            <a:ext cx="7022592" cy="4389120"/>
          </a:xfrm>
          <a:prstGeom prst="rect">
            <a:avLst/>
          </a:prstGeom>
          <a:ln w="9525">
            <a:solidFill>
              <a:srgbClr val="30363D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0238"/>
            <a:ext cx="722195" cy="258465"/>
          </a:xfrm>
          <a:prstGeom prst="roundRect">
            <a:avLst>
              <a:gd name="adj" fmla="val 22115"/>
            </a:avLst>
          </a:prstGeom>
          <a:noFill/>
          <a:ln w="1270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63469" y="681236"/>
            <a:ext cx="1127791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FONTES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49920"/>
            <a:ext cx="10868745" cy="5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Referências e Fontes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732459"/>
            <a:ext cx="11478330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Fontes primárias usadas no repositório (todas com ≥2 fontes por número-chave):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2267942"/>
            <a:ext cx="5226911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Relatórios Globais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1475" y="2697361"/>
            <a:ext cx="5226911" cy="2056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IBM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Cost of a Data Breach 2025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Verizon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Data Breach Investigations Report (DBIR) 2025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FS-ISAC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Relatórios de tendências do setor financeiro, 2025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CrowdStrike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Global Threat Report 2025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Microsoft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Digital Defense Report 2025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Mandiant (Google Cloud)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M-Trends 2025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WEF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Global Cybersecurity Outlook 2026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ENISA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Threat Landscape 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659" y="2267942"/>
            <a:ext cx="5226911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Fontes Regulatórias e Setoriais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09659" y="2697361"/>
            <a:ext cx="5226911" cy="1211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Banco Central do Brasil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Resolução CMN nº 4.893/2021 e BCB nº 85/2021; Open Finance Brasil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Febraban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dados de fraude, 2024–2025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MITRE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ATT&amp;CK (Enterprise e for ICS)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NIST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CSF 2.0; FIPS 203/204/205 (PQC)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659" y="4061916"/>
            <a:ext cx="5226911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Sobre o Repositório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309659" y="4491335"/>
            <a:ext cx="5226911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Panorama de Risco </a:t>
            </a:r>
            <a:r>
              <a:rPr lang="en-US" sz="13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Cibernético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dossiê com verificação cruzada. Todos os números-chave validados com no mínimo 2 fontes independentes.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5431730"/>
            <a:ext cx="10868745" cy="796032"/>
          </a:xfrm>
          <a:prstGeom prst="roundRect">
            <a:avLst>
              <a:gd name="adj" fmla="val 8976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5647829"/>
            <a:ext cx="212620" cy="17006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14209" y="5627291"/>
            <a:ext cx="10145955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Este panorama executivo é atualizado continuamente à medida que novas fontes e dados são publicados pelas organizações referenciadas.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1025</Words>
  <Application>Microsoft Office PowerPoint</Application>
  <PresentationFormat>Widescreen</PresentationFormat>
  <Paragraphs>127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Geist</vt:lpstr>
      <vt:lpstr>Geist Bold</vt:lpstr>
      <vt:lpstr>Arial</vt:lpstr>
      <vt:lpstr>Twemoji Mozilla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Almir Meira Alves</cp:lastModifiedBy>
  <cp:revision>4</cp:revision>
  <dcterms:created xsi:type="dcterms:W3CDTF">2026-07-22T14:52:26Z</dcterms:created>
  <dcterms:modified xsi:type="dcterms:W3CDTF">2026-07-22T17:32:44Z</dcterms:modified>
</cp:coreProperties>
</file>